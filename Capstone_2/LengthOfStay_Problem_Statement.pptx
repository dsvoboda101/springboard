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
  </p:notesMasterIdLst>
  <p:sldIdLst>
    <p:sldId id="256" r:id="rId2"/>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http://customooxmlschemas.google.com/">
      <go:slidesCustomData xmlns:go="http://customooxmlschemas.google.com/"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7" roundtripDataSignature="AMtx7mjdo7FECp685JsX7/4pIVeoAktjN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18F2A3F-BA3D-4005-B59B-1BB77FA9DAF0}" v="6" dt="2025-11-03T21:22:05.09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7" d="100"/>
          <a:sy n="97" d="100"/>
        </p:scale>
        <p:origin x="2004" y="30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notesMaster" Target="notesMasters/notesMaster1.xml"/><Relationship Id="rId7" Type="http://customschemas.google.com/relationships/presentationmetadata" Target="metadata"/><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11" Type="http://schemas.openxmlformats.org/officeDocument/2006/relationships/tableStyles" Target="tableStyles.xml"/><Relationship Id="rId10" Type="http://schemas.openxmlformats.org/officeDocument/2006/relationships/theme" Target="theme/theme1.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von Svoboda" userId="e411a559af336678" providerId="LiveId" clId="{73BEB1F0-4165-4E94-BBB1-92E96354BF43}"/>
    <pc:docChg chg="modSld">
      <pc:chgData name="Devon Svoboda" userId="e411a559af336678" providerId="LiveId" clId="{73BEB1F0-4165-4E94-BBB1-92E96354BF43}" dt="2025-11-03T21:22:14.102" v="9" actId="6549"/>
      <pc:docMkLst>
        <pc:docMk/>
      </pc:docMkLst>
      <pc:sldChg chg="addSp delSp modSp mod">
        <pc:chgData name="Devon Svoboda" userId="e411a559af336678" providerId="LiveId" clId="{73BEB1F0-4165-4E94-BBB1-92E96354BF43}" dt="2025-11-03T21:22:14.102" v="9" actId="6549"/>
        <pc:sldMkLst>
          <pc:docMk/>
          <pc:sldMk cId="0" sldId="256"/>
        </pc:sldMkLst>
        <pc:spChg chg="add del mod">
          <ac:chgData name="Devon Svoboda" userId="e411a559af336678" providerId="LiveId" clId="{73BEB1F0-4165-4E94-BBB1-92E96354BF43}" dt="2025-11-03T21:21:47.395" v="4" actId="478"/>
          <ac:spMkLst>
            <pc:docMk/>
            <pc:sldMk cId="0" sldId="256"/>
            <ac:spMk id="2" creationId="{AC262A86-2A14-CEF0-EDB8-F84F4CC86627}"/>
          </ac:spMkLst>
        </pc:spChg>
        <pc:spChg chg="add del mod">
          <ac:chgData name="Devon Svoboda" userId="e411a559af336678" providerId="LiveId" clId="{73BEB1F0-4165-4E94-BBB1-92E96354BF43}" dt="2025-11-03T21:21:51.073" v="5" actId="478"/>
          <ac:spMkLst>
            <pc:docMk/>
            <pc:sldMk cId="0" sldId="256"/>
            <ac:spMk id="3" creationId="{A3385E0A-2A91-63DC-805B-242FD91168B6}"/>
          </ac:spMkLst>
        </pc:spChg>
        <pc:spChg chg="add mod">
          <ac:chgData name="Devon Svoboda" userId="e411a559af336678" providerId="LiveId" clId="{73BEB1F0-4165-4E94-BBB1-92E96354BF43}" dt="2025-11-03T21:22:00.821" v="7" actId="21"/>
          <ac:spMkLst>
            <pc:docMk/>
            <pc:sldMk cId="0" sldId="256"/>
            <ac:spMk id="4" creationId="{09480CA0-61A2-E65F-5048-425903BE0EE1}"/>
          </ac:spMkLst>
        </pc:spChg>
        <pc:spChg chg="mod">
          <ac:chgData name="Devon Svoboda" userId="e411a559af336678" providerId="LiveId" clId="{73BEB1F0-4165-4E94-BBB1-92E96354BF43}" dt="2025-11-03T21:22:14.102" v="9" actId="6549"/>
          <ac:spMkLst>
            <pc:docMk/>
            <pc:sldMk cId="0" sldId="256"/>
            <ac:spMk id="38"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AU"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
        <p:cNvGrpSpPr/>
        <p:nvPr/>
      </p:nvGrpSpPr>
      <p:grpSpPr>
        <a:xfrm>
          <a:off x="0" y="0"/>
          <a:ext cx="0" cy="0"/>
          <a:chOff x="0" y="0"/>
          <a:chExt cx="0" cy="0"/>
        </a:xfrm>
      </p:grpSpPr>
      <p:sp>
        <p:nvSpPr>
          <p:cNvPr id="16" name="Google Shape;16;p1:notes"/>
          <p:cNvSpPr txBox="1">
            <a:spLocks noGrp="1"/>
          </p:cNvSpPr>
          <p:nvPr>
            <p:ph type="sldNum" idx="12"/>
          </p:nvPr>
        </p:nvSpPr>
        <p:spPr>
          <a:xfrm>
            <a:off x="6042320" y="9493393"/>
            <a:ext cx="169918" cy="184666"/>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800"/>
              <a:buFont typeface="Calibri"/>
              <a:buNone/>
            </a:pPr>
            <a:fld id="{00000000-1234-1234-1234-123412341234}" type="slidenum">
              <a:rPr lang="en-AU" sz="1800" b="0" i="0" u="none" strike="noStrike" cap="none">
                <a:solidFill>
                  <a:srgbClr val="000000"/>
                </a:solidFill>
              </a:rPr>
              <a:t>1</a:t>
            </a:fld>
            <a:endParaRPr sz="1800" b="0" i="0" u="none" strike="noStrike" cap="none">
              <a:solidFill>
                <a:srgbClr val="000000"/>
              </a:solidFill>
            </a:endParaRPr>
          </a:p>
        </p:txBody>
      </p:sp>
      <p:sp>
        <p:nvSpPr>
          <p:cNvPr id="17" name="Google Shape;17;p1:notes"/>
          <p:cNvSpPr>
            <a:spLocks noGrp="1" noRot="1" noChangeAspect="1"/>
          </p:cNvSpPr>
          <p:nvPr>
            <p:ph type="sldImg" idx="2"/>
          </p:nvPr>
        </p:nvSpPr>
        <p:spPr>
          <a:xfrm>
            <a:off x="-2319338" y="1265238"/>
            <a:ext cx="11201401" cy="84010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8" name="Google Shape;18;p1:notes"/>
          <p:cNvSpPr txBox="1">
            <a:spLocks noGrp="1"/>
          </p:cNvSpPr>
          <p:nvPr>
            <p:ph type="body" idx="1"/>
          </p:nvPr>
        </p:nvSpPr>
        <p:spPr>
          <a:xfrm>
            <a:off x="789535" y="605318"/>
            <a:ext cx="5470797" cy="24622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AU" b="1"/>
              <a:t>Hypothesis: </a:t>
            </a:r>
            <a:r>
              <a:rPr lang="en-AU" sz="1200" b="0" i="1" u="none" strike="noStrike" cap="none">
                <a:solidFill>
                  <a:srgbClr val="000000"/>
                </a:solidFill>
                <a:latin typeface="Arial"/>
                <a:ea typeface="Arial"/>
                <a:cs typeface="Arial"/>
                <a:sym typeface="Arial"/>
              </a:rPr>
              <a:t>Create a Hypothesis with an emphasis on SMART principles. </a:t>
            </a:r>
            <a:r>
              <a:rPr lang="en-AU" sz="1200" b="1" i="1" u="none" strike="noStrike" cap="none">
                <a:solidFill>
                  <a:srgbClr val="000000"/>
                </a:solidFill>
                <a:latin typeface="Arial"/>
                <a:ea typeface="Arial"/>
                <a:cs typeface="Arial"/>
                <a:sym typeface="Arial"/>
              </a:rPr>
              <a:t>(</a:t>
            </a:r>
            <a:r>
              <a:rPr lang="en-AU" sz="1200" b="1" i="1"/>
              <a:t>S – Specific, M – Measurable, A – Achievable, R – Realistic, T – Timebound). </a:t>
            </a:r>
            <a:r>
              <a:rPr lang="en-AU" sz="1200" b="0" i="0"/>
              <a:t>If you cannot do this, you </a:t>
            </a:r>
            <a:r>
              <a:rPr lang="en-AU" sz="1200" b="1" i="0"/>
              <a:t>do not</a:t>
            </a:r>
            <a:r>
              <a:rPr lang="en-AU" sz="1200" b="0" i="0"/>
              <a:t> have a good grasp on the business problem.</a:t>
            </a:r>
            <a:endParaRPr b="1"/>
          </a:p>
          <a:p>
            <a:pPr marL="0" lvl="0" indent="0" algn="l" rtl="0">
              <a:lnSpc>
                <a:spcPct val="100000"/>
              </a:lnSpc>
              <a:spcBef>
                <a:spcPts val="0"/>
              </a:spcBef>
              <a:spcAft>
                <a:spcPts val="0"/>
              </a:spcAft>
              <a:buSzPts val="1400"/>
              <a:buNone/>
            </a:pPr>
            <a:endParaRPr/>
          </a:p>
          <a:p>
            <a:pPr marL="0" marR="0" lvl="0" indent="0" algn="l" rtl="0">
              <a:lnSpc>
                <a:spcPct val="100000"/>
              </a:lnSpc>
              <a:spcBef>
                <a:spcPts val="0"/>
              </a:spcBef>
              <a:spcAft>
                <a:spcPts val="0"/>
              </a:spcAft>
              <a:buClr>
                <a:srgbClr val="000000"/>
              </a:buClr>
              <a:buSzPts val="1400"/>
              <a:buFont typeface="Arial"/>
              <a:buNone/>
            </a:pPr>
            <a:r>
              <a:rPr lang="en-AU" b="1"/>
              <a:t>Context: </a:t>
            </a:r>
            <a:r>
              <a:rPr lang="en-AU" sz="1200"/>
              <a:t>With context, we have </a:t>
            </a:r>
            <a:r>
              <a:rPr lang="en-AU" sz="1200" b="1" u="sng"/>
              <a:t>clearly identified the problem at hand </a:t>
            </a:r>
            <a:r>
              <a:rPr lang="en-AU" sz="1200"/>
              <a:t>and have elucidated on how our initiative may solve this problem, alongside the commercial implications this will have on the business. </a:t>
            </a:r>
            <a:endParaRPr/>
          </a:p>
          <a:p>
            <a:pPr marL="0" lvl="0" indent="0" algn="l" rtl="0">
              <a:lnSpc>
                <a:spcPct val="100000"/>
              </a:lnSpc>
              <a:spcBef>
                <a:spcPts val="0"/>
              </a:spcBef>
              <a:spcAft>
                <a:spcPts val="0"/>
              </a:spcAft>
              <a:buSzPts val="1400"/>
              <a:buNone/>
            </a:pPr>
            <a:endParaRPr b="1"/>
          </a:p>
          <a:p>
            <a:pPr marL="0" lvl="0" indent="0" algn="l" rtl="0">
              <a:lnSpc>
                <a:spcPct val="100000"/>
              </a:lnSpc>
              <a:spcBef>
                <a:spcPts val="0"/>
              </a:spcBef>
              <a:spcAft>
                <a:spcPts val="0"/>
              </a:spcAft>
              <a:buSzPts val="1400"/>
              <a:buNone/>
            </a:pPr>
            <a:r>
              <a:rPr lang="en-AU" b="1"/>
              <a:t>Criteria for Success</a:t>
            </a:r>
            <a:r>
              <a:rPr lang="en-AU" b="0"/>
              <a:t>: Clearly defining the criteria for success ensures that the scope of your work is clearly defined and understood. Otherwise, if this isn’t defined – your work will never end which will result in mismatched expectations.</a:t>
            </a:r>
            <a:endParaRPr/>
          </a:p>
          <a:p>
            <a:pPr marL="0" lvl="0" indent="0" algn="l" rtl="0">
              <a:lnSpc>
                <a:spcPct val="100000"/>
              </a:lnSpc>
              <a:spcBef>
                <a:spcPts val="0"/>
              </a:spcBef>
              <a:spcAft>
                <a:spcPts val="0"/>
              </a:spcAft>
              <a:buSzPts val="1400"/>
              <a:buNone/>
            </a:pPr>
            <a:endParaRPr b="0"/>
          </a:p>
          <a:p>
            <a:pPr marL="0" lvl="0" indent="0" algn="l" rtl="0">
              <a:lnSpc>
                <a:spcPct val="100000"/>
              </a:lnSpc>
              <a:spcBef>
                <a:spcPts val="0"/>
              </a:spcBef>
              <a:spcAft>
                <a:spcPts val="0"/>
              </a:spcAft>
              <a:buSzPts val="1400"/>
              <a:buNone/>
            </a:pPr>
            <a:r>
              <a:rPr lang="en-AU" b="1"/>
              <a:t>Scope of Solution Space: </a:t>
            </a:r>
            <a:r>
              <a:rPr lang="en-AU" b="0"/>
              <a:t>Scoping out the solution space ensures that the business initiative is SPECIFIC for a certain segment or area. This prevents solutions that have been developed being scaled and applied for all other business units that the solution may not be responsible or scalable for.</a:t>
            </a:r>
            <a:endParaRPr/>
          </a:p>
          <a:p>
            <a:pPr marL="0" lvl="0" indent="0" algn="l" rtl="0">
              <a:lnSpc>
                <a:spcPct val="100000"/>
              </a:lnSpc>
              <a:spcBef>
                <a:spcPts val="0"/>
              </a:spcBef>
              <a:spcAft>
                <a:spcPts val="0"/>
              </a:spcAft>
              <a:buSzPts val="1400"/>
              <a:buNone/>
            </a:pPr>
            <a:endParaRPr b="0"/>
          </a:p>
          <a:p>
            <a:pPr marL="0" lvl="0" indent="0" algn="l" rtl="0">
              <a:lnSpc>
                <a:spcPct val="100000"/>
              </a:lnSpc>
              <a:spcBef>
                <a:spcPts val="0"/>
              </a:spcBef>
              <a:spcAft>
                <a:spcPts val="0"/>
              </a:spcAft>
              <a:buSzPts val="1400"/>
              <a:buNone/>
            </a:pPr>
            <a:r>
              <a:rPr lang="en-AU" b="1"/>
              <a:t>Constraints within Solution Space: </a:t>
            </a:r>
            <a:r>
              <a:rPr lang="en-AU" b="0"/>
              <a:t>Looking forward, what are the foreseeable problems we are likely to encounter? Could this be stakeholder resistance? Could this be we don’t have access to the right data? </a:t>
            </a:r>
            <a:endParaRPr/>
          </a:p>
          <a:p>
            <a:pPr marL="0" lvl="0" indent="0" algn="l" rtl="0">
              <a:lnSpc>
                <a:spcPct val="100000"/>
              </a:lnSpc>
              <a:spcBef>
                <a:spcPts val="0"/>
              </a:spcBef>
              <a:spcAft>
                <a:spcPts val="0"/>
              </a:spcAft>
              <a:buSzPts val="1400"/>
              <a:buNone/>
            </a:pPr>
            <a:endParaRPr b="0"/>
          </a:p>
          <a:p>
            <a:pPr marL="0" lvl="0" indent="0" algn="l" rtl="0">
              <a:lnSpc>
                <a:spcPct val="100000"/>
              </a:lnSpc>
              <a:spcBef>
                <a:spcPts val="0"/>
              </a:spcBef>
              <a:spcAft>
                <a:spcPts val="0"/>
              </a:spcAft>
              <a:buSzPts val="1400"/>
              <a:buNone/>
            </a:pPr>
            <a:r>
              <a:rPr lang="en-AU" b="1"/>
              <a:t>Stakeholders to provide key insight: </a:t>
            </a:r>
            <a:r>
              <a:rPr lang="en-AU" b="0"/>
              <a:t>Who are the people I need to speak to, to get the answers I need for my data analysis?</a:t>
            </a:r>
            <a:endParaRPr/>
          </a:p>
          <a:p>
            <a:pPr marL="0" lvl="0" indent="0" algn="l" rtl="0">
              <a:lnSpc>
                <a:spcPct val="100000"/>
              </a:lnSpc>
              <a:spcBef>
                <a:spcPts val="0"/>
              </a:spcBef>
              <a:spcAft>
                <a:spcPts val="0"/>
              </a:spcAft>
              <a:buSzPts val="1400"/>
              <a:buNone/>
            </a:pPr>
            <a:endParaRPr b="0"/>
          </a:p>
          <a:p>
            <a:pPr marL="0" lvl="0" indent="0" algn="l" rtl="0">
              <a:lnSpc>
                <a:spcPct val="100000"/>
              </a:lnSpc>
              <a:spcBef>
                <a:spcPts val="0"/>
              </a:spcBef>
              <a:spcAft>
                <a:spcPts val="0"/>
              </a:spcAft>
              <a:buSzPts val="1400"/>
              <a:buNone/>
            </a:pPr>
            <a:r>
              <a:rPr lang="en-AU" b="1"/>
              <a:t>What key data sources are required</a:t>
            </a:r>
            <a:r>
              <a:rPr lang="en-AU" b="0"/>
              <a:t>?</a:t>
            </a:r>
            <a:endParaRPr/>
          </a:p>
          <a:p>
            <a:pPr marL="0" lvl="0" indent="0" algn="l" rtl="0">
              <a:lnSpc>
                <a:spcPct val="100000"/>
              </a:lnSpc>
              <a:spcBef>
                <a:spcPts val="0"/>
              </a:spcBef>
              <a:spcAft>
                <a:spcPts val="0"/>
              </a:spcAft>
              <a:buSzPts val="1400"/>
              <a:buNone/>
            </a:pPr>
            <a:r>
              <a:rPr lang="en-AU" b="0"/>
              <a:t>Based off my discussions with the key stakeholders – can we clearly list out all the data sources we need so we can make a highly targeted request as opposed to a scatter-gun approach where we ask for a bit of everything?</a:t>
            </a:r>
            <a:endParaRPr/>
          </a:p>
          <a:p>
            <a:pPr marL="0" lvl="0" indent="0" algn="l" rtl="0">
              <a:lnSpc>
                <a:spcPct val="100000"/>
              </a:lnSpc>
              <a:spcBef>
                <a:spcPts val="0"/>
              </a:spcBef>
              <a:spcAft>
                <a:spcPts val="0"/>
              </a:spcAft>
              <a:buSzPts val="1400"/>
              <a:buNone/>
            </a:pPr>
            <a:endParaRPr b="1"/>
          </a:p>
          <a:p>
            <a:pPr marL="0" lvl="0" indent="0" algn="l" rtl="0">
              <a:lnSpc>
                <a:spcPct val="100000"/>
              </a:lnSpc>
              <a:spcBef>
                <a:spcPts val="0"/>
              </a:spcBef>
              <a:spcAft>
                <a:spcPts val="0"/>
              </a:spcAft>
              <a:buSzPts val="1400"/>
              <a:buNone/>
            </a:pPr>
            <a:endParaRPr b="1"/>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174945" y="234863"/>
            <a:ext cx="8794113" cy="298327"/>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
          <p:cNvSpPr/>
          <p:nvPr/>
        </p:nvSpPr>
        <p:spPr>
          <a:xfrm>
            <a:off x="8298444" y="37255"/>
            <a:ext cx="670614" cy="12472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Clr>
                <a:srgbClr val="000000"/>
              </a:buClr>
              <a:buSzPts val="816"/>
              <a:buFont typeface="Arial"/>
              <a:buNone/>
            </a:pPr>
            <a:endParaRPr sz="816" b="0" i="0" u="none" strike="noStrike" cap="none">
              <a:solidFill>
                <a:srgbClr val="000000"/>
              </a:solidFill>
              <a:latin typeface="Arial"/>
              <a:ea typeface="Arial"/>
              <a:cs typeface="Arial"/>
              <a:sym typeface="Arial"/>
            </a:endParaRPr>
          </a:p>
        </p:txBody>
      </p:sp>
      <p:sp>
        <p:nvSpPr>
          <p:cNvPr id="11" name="Google Shape;11;p2"/>
          <p:cNvSpPr txBox="1">
            <a:spLocks noGrp="1"/>
          </p:cNvSpPr>
          <p:nvPr>
            <p:ph type="body" idx="1"/>
          </p:nvPr>
        </p:nvSpPr>
        <p:spPr>
          <a:xfrm>
            <a:off x="2343099" y="2570857"/>
            <a:ext cx="4389768" cy="1256112"/>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32" b="0" i="0" u="none" strike="noStrike" cap="none">
                <a:solidFill>
                  <a:schemeClr val="dk1"/>
                </a:solidFill>
                <a:latin typeface="Arial"/>
                <a:ea typeface="Arial"/>
                <a:cs typeface="Arial"/>
                <a:sym typeface="Arial"/>
              </a:defRPr>
            </a:lvl1pPr>
            <a:lvl2pPr marL="914400" marR="0" lvl="1" indent="-358140" algn="l" rtl="0">
              <a:lnSpc>
                <a:spcPct val="100000"/>
              </a:lnSpc>
              <a:spcBef>
                <a:spcPts val="0"/>
              </a:spcBef>
              <a:spcAft>
                <a:spcPts val="0"/>
              </a:spcAft>
              <a:buClr>
                <a:schemeClr val="dk2"/>
              </a:buClr>
              <a:buSzPts val="2040"/>
              <a:buFont typeface="Arial"/>
              <a:buChar char="▪"/>
              <a:defRPr sz="1632" b="0" i="0" u="none" strike="noStrike" cap="none">
                <a:solidFill>
                  <a:schemeClr val="dk1"/>
                </a:solidFill>
                <a:latin typeface="Arial"/>
                <a:ea typeface="Arial"/>
                <a:cs typeface="Arial"/>
                <a:sym typeface="Arial"/>
              </a:defRPr>
            </a:lvl2pPr>
            <a:lvl3pPr marL="1371600" marR="0" lvl="2" indent="-352933" algn="l" rtl="0">
              <a:lnSpc>
                <a:spcPct val="100000"/>
              </a:lnSpc>
              <a:spcBef>
                <a:spcPts val="0"/>
              </a:spcBef>
              <a:spcAft>
                <a:spcPts val="0"/>
              </a:spcAft>
              <a:buClr>
                <a:schemeClr val="dk2"/>
              </a:buClr>
              <a:buSzPts val="1958"/>
              <a:buFont typeface="Arial"/>
              <a:buChar char="–"/>
              <a:defRPr sz="1632" b="0" i="0" u="none" strike="noStrike" cap="none">
                <a:solidFill>
                  <a:schemeClr val="dk1"/>
                </a:solidFill>
                <a:latin typeface="Arial"/>
                <a:ea typeface="Arial"/>
                <a:cs typeface="Arial"/>
                <a:sym typeface="Arial"/>
              </a:defRPr>
            </a:lvl3pPr>
            <a:lvl4pPr marL="1828800" marR="0" lvl="3" indent="-352933" algn="l" rtl="0">
              <a:lnSpc>
                <a:spcPct val="100000"/>
              </a:lnSpc>
              <a:spcBef>
                <a:spcPts val="0"/>
              </a:spcBef>
              <a:spcAft>
                <a:spcPts val="0"/>
              </a:spcAft>
              <a:buClr>
                <a:schemeClr val="dk2"/>
              </a:buClr>
              <a:buSzPts val="1958"/>
              <a:buFont typeface="Arial"/>
              <a:buChar char="▫"/>
              <a:defRPr sz="1632" b="0" i="0" u="none" strike="noStrike" cap="none">
                <a:solidFill>
                  <a:schemeClr val="dk1"/>
                </a:solidFill>
                <a:latin typeface="Arial"/>
                <a:ea typeface="Arial"/>
                <a:cs typeface="Arial"/>
                <a:sym typeface="Arial"/>
              </a:defRPr>
            </a:lvl4pPr>
            <a:lvl5pPr marL="2286000" marR="0" lvl="4" indent="-320801" algn="l" rtl="0">
              <a:lnSpc>
                <a:spcPct val="100000"/>
              </a:lnSpc>
              <a:spcBef>
                <a:spcPts val="0"/>
              </a:spcBef>
              <a:spcAft>
                <a:spcPts val="0"/>
              </a:spcAft>
              <a:buClr>
                <a:schemeClr val="dk2"/>
              </a:buClr>
              <a:buSzPts val="1452"/>
              <a:buFont typeface="Arial"/>
              <a:buChar char="-"/>
              <a:defRPr sz="1632" b="0" i="0" u="none" strike="noStrike" cap="none">
                <a:solidFill>
                  <a:schemeClr val="dk1"/>
                </a:solidFill>
                <a:latin typeface="Arial"/>
                <a:ea typeface="Arial"/>
                <a:cs typeface="Arial"/>
                <a:sym typeface="Arial"/>
              </a:defRPr>
            </a:lvl5pPr>
            <a:lvl6pPr marL="2743200" marR="0" lvl="5" indent="-320801" algn="l" rtl="0">
              <a:lnSpc>
                <a:spcPct val="100000"/>
              </a:lnSpc>
              <a:spcBef>
                <a:spcPts val="0"/>
              </a:spcBef>
              <a:spcAft>
                <a:spcPts val="0"/>
              </a:spcAft>
              <a:buClr>
                <a:schemeClr val="dk2"/>
              </a:buClr>
              <a:buSzPts val="1452"/>
              <a:buFont typeface="Arial"/>
              <a:buChar char="-"/>
              <a:defRPr sz="1632" b="0" i="0" u="none" strike="noStrike" cap="none">
                <a:solidFill>
                  <a:schemeClr val="dk1"/>
                </a:solidFill>
                <a:latin typeface="Arial"/>
                <a:ea typeface="Arial"/>
                <a:cs typeface="Arial"/>
                <a:sym typeface="Arial"/>
              </a:defRPr>
            </a:lvl6pPr>
            <a:lvl7pPr marL="3200400" marR="0" lvl="6" indent="-320801" algn="l" rtl="0">
              <a:lnSpc>
                <a:spcPct val="100000"/>
              </a:lnSpc>
              <a:spcBef>
                <a:spcPts val="0"/>
              </a:spcBef>
              <a:spcAft>
                <a:spcPts val="0"/>
              </a:spcAft>
              <a:buClr>
                <a:schemeClr val="dk2"/>
              </a:buClr>
              <a:buSzPts val="1452"/>
              <a:buFont typeface="Arial"/>
              <a:buChar char="-"/>
              <a:defRPr sz="1632" b="0" i="0" u="none" strike="noStrike" cap="none">
                <a:solidFill>
                  <a:schemeClr val="dk1"/>
                </a:solidFill>
                <a:latin typeface="Arial"/>
                <a:ea typeface="Arial"/>
                <a:cs typeface="Arial"/>
                <a:sym typeface="Arial"/>
              </a:defRPr>
            </a:lvl7pPr>
            <a:lvl8pPr marL="3657600" marR="0" lvl="7" indent="-320802" algn="l" rtl="0">
              <a:lnSpc>
                <a:spcPct val="100000"/>
              </a:lnSpc>
              <a:spcBef>
                <a:spcPts val="0"/>
              </a:spcBef>
              <a:spcAft>
                <a:spcPts val="0"/>
              </a:spcAft>
              <a:buClr>
                <a:schemeClr val="dk2"/>
              </a:buClr>
              <a:buSzPts val="1452"/>
              <a:buFont typeface="Arial"/>
              <a:buChar char="-"/>
              <a:defRPr sz="1632" b="0" i="0" u="none" strike="noStrike" cap="none">
                <a:solidFill>
                  <a:schemeClr val="dk1"/>
                </a:solidFill>
                <a:latin typeface="Arial"/>
                <a:ea typeface="Arial"/>
                <a:cs typeface="Arial"/>
                <a:sym typeface="Arial"/>
              </a:defRPr>
            </a:lvl8pPr>
            <a:lvl9pPr marL="4114800" marR="0" lvl="8" indent="-320802" algn="l" rtl="0">
              <a:lnSpc>
                <a:spcPct val="100000"/>
              </a:lnSpc>
              <a:spcBef>
                <a:spcPts val="0"/>
              </a:spcBef>
              <a:spcAft>
                <a:spcPts val="0"/>
              </a:spcAft>
              <a:buClr>
                <a:schemeClr val="dk2"/>
              </a:buClr>
              <a:buSzPts val="1452"/>
              <a:buFont typeface="Arial"/>
              <a:buChar char="-"/>
              <a:defRPr sz="1632" b="0" i="0" u="none" strike="noStrike" cap="none">
                <a:solidFill>
                  <a:schemeClr val="dk1"/>
                </a:solidFill>
                <a:latin typeface="Arial"/>
                <a:ea typeface="Arial"/>
                <a:cs typeface="Arial"/>
                <a:sym typeface="Arial"/>
              </a:defRPr>
            </a:lvl9pPr>
          </a:lstStyle>
          <a:p>
            <a:endParaRPr/>
          </a:p>
        </p:txBody>
      </p:sp>
      <p:sp>
        <p:nvSpPr>
          <p:cNvPr id="12" name="Google Shape;12;p2"/>
          <p:cNvSpPr txBox="1">
            <a:spLocks noGrp="1"/>
          </p:cNvSpPr>
          <p:nvPr>
            <p:ph type="title"/>
          </p:nvPr>
        </p:nvSpPr>
        <p:spPr>
          <a:xfrm>
            <a:off x="174945" y="234863"/>
            <a:ext cx="8794113" cy="298327"/>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1400"/>
              <a:buFont typeface="Arial"/>
              <a:buNone/>
              <a:defRPr sz="1939"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939" b="1" i="0" u="none" strike="noStrike" cap="none">
                <a:solidFill>
                  <a:schemeClr val="dk2"/>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939" b="1" i="0" u="none" strike="noStrike" cap="none">
                <a:solidFill>
                  <a:schemeClr val="dk2"/>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939" b="1" i="0" u="none" strike="noStrike" cap="none">
                <a:solidFill>
                  <a:schemeClr val="dk2"/>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939" b="1" i="0" u="none" strike="noStrike" cap="none">
                <a:solidFill>
                  <a:schemeClr val="dk2"/>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939" b="1" i="0" u="none" strike="noStrike" cap="none">
                <a:solidFill>
                  <a:schemeClr val="dk2"/>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939" b="1" i="0" u="none" strike="noStrike" cap="none">
                <a:solidFill>
                  <a:schemeClr val="dk2"/>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939" b="1" i="0" u="none" strike="noStrike" cap="none">
                <a:solidFill>
                  <a:schemeClr val="dk2"/>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939" b="1" i="0" u="none" strike="noStrike" cap="none">
                <a:solidFill>
                  <a:schemeClr val="dk2"/>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kaggle.com/datasets/aayushchou/hospital-length-of-stay-dataset-microsoft/data"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9"/>
        <p:cNvGrpSpPr/>
        <p:nvPr/>
      </p:nvGrpSpPr>
      <p:grpSpPr>
        <a:xfrm>
          <a:off x="0" y="0"/>
          <a:ext cx="0" cy="0"/>
          <a:chOff x="0" y="0"/>
          <a:chExt cx="0" cy="0"/>
        </a:xfrm>
      </p:grpSpPr>
      <p:sp>
        <p:nvSpPr>
          <p:cNvPr id="20" name="Google Shape;20;p1"/>
          <p:cNvSpPr/>
          <p:nvPr/>
        </p:nvSpPr>
        <p:spPr>
          <a:xfrm>
            <a:off x="137949" y="1576013"/>
            <a:ext cx="4344156" cy="4681063"/>
          </a:xfrm>
          <a:prstGeom prst="rect">
            <a:avLst/>
          </a:prstGeom>
          <a:solidFill>
            <a:schemeClr val="lt1"/>
          </a:solidFill>
          <a:ln w="1905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28"/>
              <a:buFont typeface="Arial"/>
              <a:buNone/>
            </a:pPr>
            <a:endParaRPr sz="1428" b="0" i="0" u="none" strike="noStrike" cap="none">
              <a:solidFill>
                <a:srgbClr val="000000"/>
              </a:solidFill>
              <a:latin typeface="Arial"/>
              <a:ea typeface="Arial"/>
              <a:cs typeface="Arial"/>
              <a:sym typeface="Arial"/>
            </a:endParaRPr>
          </a:p>
        </p:txBody>
      </p:sp>
      <p:sp>
        <p:nvSpPr>
          <p:cNvPr id="21" name="Google Shape;21;p1"/>
          <p:cNvSpPr/>
          <p:nvPr/>
        </p:nvSpPr>
        <p:spPr>
          <a:xfrm>
            <a:off x="4587388" y="1576013"/>
            <a:ext cx="4344156" cy="4681063"/>
          </a:xfrm>
          <a:prstGeom prst="rect">
            <a:avLst/>
          </a:prstGeom>
          <a:solidFill>
            <a:schemeClr val="lt1"/>
          </a:solidFill>
          <a:ln w="1905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28"/>
              <a:buFont typeface="Arial"/>
              <a:buNone/>
            </a:pPr>
            <a:endParaRPr sz="1428" b="0" i="0" u="none" strike="noStrike" cap="none">
              <a:solidFill>
                <a:srgbClr val="000000"/>
              </a:solidFill>
              <a:latin typeface="Arial"/>
              <a:ea typeface="Arial"/>
              <a:cs typeface="Arial"/>
              <a:sym typeface="Arial"/>
            </a:endParaRPr>
          </a:p>
        </p:txBody>
      </p:sp>
      <p:sp>
        <p:nvSpPr>
          <p:cNvPr id="22" name="Google Shape;22;p1"/>
          <p:cNvSpPr/>
          <p:nvPr/>
        </p:nvSpPr>
        <p:spPr>
          <a:xfrm>
            <a:off x="218936" y="1618127"/>
            <a:ext cx="288315" cy="288315"/>
          </a:xfrm>
          <a:prstGeom prst="rect">
            <a:avLst/>
          </a:prstGeom>
          <a:solidFill>
            <a:srgbClr val="F1A205"/>
          </a:solidFill>
          <a:ln>
            <a:noFill/>
          </a:ln>
        </p:spPr>
        <p:txBody>
          <a:bodyPr spcFirstLastPara="1" wrap="square" lIns="47575" tIns="47575" rIns="47575" bIns="47575"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b="0" i="0" u="none" strike="noStrike" cap="none">
                <a:solidFill>
                  <a:schemeClr val="lt1"/>
                </a:solidFill>
                <a:latin typeface="Arial"/>
                <a:ea typeface="Arial"/>
                <a:cs typeface="Arial"/>
                <a:sym typeface="Arial"/>
              </a:rPr>
              <a:t>1</a:t>
            </a:r>
            <a:endParaRPr sz="1428" b="0" i="0" u="none" strike="noStrike" cap="none">
              <a:solidFill>
                <a:schemeClr val="lt1"/>
              </a:solidFill>
              <a:latin typeface="Arial"/>
              <a:ea typeface="Arial"/>
              <a:cs typeface="Arial"/>
              <a:sym typeface="Arial"/>
            </a:endParaRPr>
          </a:p>
        </p:txBody>
      </p:sp>
      <p:sp>
        <p:nvSpPr>
          <p:cNvPr id="23" name="Google Shape;23;p1"/>
          <p:cNvSpPr/>
          <p:nvPr/>
        </p:nvSpPr>
        <p:spPr>
          <a:xfrm>
            <a:off x="4668375" y="1618127"/>
            <a:ext cx="288315" cy="288315"/>
          </a:xfrm>
          <a:prstGeom prst="rect">
            <a:avLst/>
          </a:prstGeom>
          <a:solidFill>
            <a:srgbClr val="F1A205"/>
          </a:solidFill>
          <a:ln>
            <a:noFill/>
          </a:ln>
        </p:spPr>
        <p:txBody>
          <a:bodyPr spcFirstLastPara="1" wrap="square" lIns="47575" tIns="47575" rIns="47575" bIns="47575"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b="0" i="0" u="none" strike="noStrike" cap="none">
                <a:solidFill>
                  <a:schemeClr val="lt1"/>
                </a:solidFill>
                <a:latin typeface="Arial"/>
                <a:ea typeface="Arial"/>
                <a:cs typeface="Arial"/>
                <a:sym typeface="Arial"/>
              </a:rPr>
              <a:t>4</a:t>
            </a:r>
            <a:endParaRPr sz="1400" b="0" i="0" u="none" strike="noStrike" cap="none">
              <a:solidFill>
                <a:srgbClr val="000000"/>
              </a:solidFill>
              <a:latin typeface="Arial"/>
              <a:ea typeface="Arial"/>
              <a:cs typeface="Arial"/>
              <a:sym typeface="Arial"/>
            </a:endParaRPr>
          </a:p>
        </p:txBody>
      </p:sp>
      <p:sp>
        <p:nvSpPr>
          <p:cNvPr id="24" name="Google Shape;24;p1"/>
          <p:cNvSpPr/>
          <p:nvPr/>
        </p:nvSpPr>
        <p:spPr>
          <a:xfrm>
            <a:off x="601195" y="1650181"/>
            <a:ext cx="3597454" cy="224203"/>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b="0" i="0" u="none" strike="noStrike" cap="none">
                <a:solidFill>
                  <a:schemeClr val="dk1"/>
                </a:solidFill>
                <a:latin typeface="Arial"/>
                <a:ea typeface="Arial"/>
                <a:cs typeface="Arial"/>
                <a:sym typeface="Arial"/>
              </a:rPr>
              <a:t>Context</a:t>
            </a:r>
            <a:endParaRPr sz="1400" b="0" i="0" u="none" strike="noStrike" cap="none">
              <a:solidFill>
                <a:srgbClr val="000000"/>
              </a:solidFill>
              <a:latin typeface="Arial"/>
              <a:ea typeface="Arial"/>
              <a:cs typeface="Arial"/>
              <a:sym typeface="Arial"/>
            </a:endParaRPr>
          </a:p>
        </p:txBody>
      </p:sp>
      <p:sp>
        <p:nvSpPr>
          <p:cNvPr id="25" name="Google Shape;25;p1"/>
          <p:cNvSpPr/>
          <p:nvPr/>
        </p:nvSpPr>
        <p:spPr>
          <a:xfrm>
            <a:off x="5050634" y="1650181"/>
            <a:ext cx="3597454" cy="224203"/>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b="0" i="0" u="none" strike="noStrike" cap="none">
                <a:solidFill>
                  <a:schemeClr val="dk1"/>
                </a:solidFill>
                <a:latin typeface="Arial"/>
                <a:ea typeface="Arial"/>
                <a:cs typeface="Arial"/>
                <a:sym typeface="Arial"/>
              </a:rPr>
              <a:t>Constraints within solution space</a:t>
            </a:r>
            <a:endParaRPr sz="1400" b="0" i="0" u="none" strike="noStrike" cap="none">
              <a:solidFill>
                <a:srgbClr val="000000"/>
              </a:solidFill>
              <a:latin typeface="Arial"/>
              <a:ea typeface="Arial"/>
              <a:cs typeface="Arial"/>
              <a:sym typeface="Arial"/>
            </a:endParaRPr>
          </a:p>
        </p:txBody>
      </p:sp>
      <p:sp>
        <p:nvSpPr>
          <p:cNvPr id="26" name="Google Shape;26;p1"/>
          <p:cNvSpPr/>
          <p:nvPr/>
        </p:nvSpPr>
        <p:spPr>
          <a:xfrm>
            <a:off x="4633250" y="3258232"/>
            <a:ext cx="288315" cy="288315"/>
          </a:xfrm>
          <a:prstGeom prst="rect">
            <a:avLst/>
          </a:prstGeom>
          <a:solidFill>
            <a:srgbClr val="F1A205"/>
          </a:solidFill>
          <a:ln>
            <a:noFill/>
          </a:ln>
        </p:spPr>
        <p:txBody>
          <a:bodyPr spcFirstLastPara="1" wrap="square" lIns="47575" tIns="47575" rIns="47575" bIns="47575"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b="0" i="0" u="none" strike="noStrike" cap="none">
                <a:solidFill>
                  <a:schemeClr val="lt1"/>
                </a:solidFill>
                <a:latin typeface="Arial"/>
                <a:ea typeface="Arial"/>
                <a:cs typeface="Arial"/>
                <a:sym typeface="Arial"/>
              </a:rPr>
              <a:t>5</a:t>
            </a:r>
            <a:endParaRPr sz="1400" b="0" i="0" u="none" strike="noStrike" cap="none">
              <a:solidFill>
                <a:srgbClr val="000000"/>
              </a:solidFill>
              <a:latin typeface="Arial"/>
              <a:ea typeface="Arial"/>
              <a:cs typeface="Arial"/>
              <a:sym typeface="Arial"/>
            </a:endParaRPr>
          </a:p>
        </p:txBody>
      </p:sp>
      <p:sp>
        <p:nvSpPr>
          <p:cNvPr id="27" name="Google Shape;27;p1"/>
          <p:cNvSpPr/>
          <p:nvPr/>
        </p:nvSpPr>
        <p:spPr>
          <a:xfrm>
            <a:off x="218936" y="3370334"/>
            <a:ext cx="288315" cy="288315"/>
          </a:xfrm>
          <a:prstGeom prst="rect">
            <a:avLst/>
          </a:prstGeom>
          <a:solidFill>
            <a:srgbClr val="F1A205"/>
          </a:solidFill>
          <a:ln>
            <a:noFill/>
          </a:ln>
        </p:spPr>
        <p:txBody>
          <a:bodyPr spcFirstLastPara="1" wrap="square" lIns="47575" tIns="47575" rIns="47575" bIns="47575"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b="0" i="0" u="none" strike="noStrike" cap="none">
                <a:solidFill>
                  <a:schemeClr val="lt1"/>
                </a:solidFill>
                <a:latin typeface="Arial"/>
                <a:ea typeface="Arial"/>
                <a:cs typeface="Arial"/>
                <a:sym typeface="Arial"/>
              </a:rPr>
              <a:t>2</a:t>
            </a:r>
            <a:endParaRPr sz="1400" b="0" i="0" u="none" strike="noStrike" cap="none">
              <a:solidFill>
                <a:srgbClr val="000000"/>
              </a:solidFill>
              <a:latin typeface="Arial"/>
              <a:ea typeface="Arial"/>
              <a:cs typeface="Arial"/>
              <a:sym typeface="Arial"/>
            </a:endParaRPr>
          </a:p>
        </p:txBody>
      </p:sp>
      <p:sp>
        <p:nvSpPr>
          <p:cNvPr id="28" name="Google Shape;28;p1"/>
          <p:cNvSpPr/>
          <p:nvPr/>
        </p:nvSpPr>
        <p:spPr>
          <a:xfrm>
            <a:off x="601195" y="3402390"/>
            <a:ext cx="3597454" cy="224203"/>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b="0" i="0" u="none" strike="noStrike" cap="none">
                <a:solidFill>
                  <a:schemeClr val="dk1"/>
                </a:solidFill>
                <a:latin typeface="Arial"/>
                <a:ea typeface="Arial"/>
                <a:cs typeface="Arial"/>
                <a:sym typeface="Arial"/>
              </a:rPr>
              <a:t>Criteria for success</a:t>
            </a:r>
            <a:endParaRPr sz="1400" b="0" i="0" u="none" strike="noStrike" cap="none">
              <a:solidFill>
                <a:srgbClr val="000000"/>
              </a:solidFill>
              <a:latin typeface="Arial"/>
              <a:ea typeface="Arial"/>
              <a:cs typeface="Arial"/>
              <a:sym typeface="Arial"/>
            </a:endParaRPr>
          </a:p>
        </p:txBody>
      </p:sp>
      <p:sp>
        <p:nvSpPr>
          <p:cNvPr id="29" name="Google Shape;29;p1"/>
          <p:cNvSpPr/>
          <p:nvPr/>
        </p:nvSpPr>
        <p:spPr>
          <a:xfrm>
            <a:off x="5015509" y="3290288"/>
            <a:ext cx="3597454" cy="224203"/>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b="0" i="0" u="none" strike="noStrike" cap="none">
                <a:solidFill>
                  <a:schemeClr val="dk1"/>
                </a:solidFill>
                <a:latin typeface="Arial"/>
                <a:ea typeface="Arial"/>
                <a:cs typeface="Arial"/>
                <a:sym typeface="Arial"/>
              </a:rPr>
              <a:t>Stakeholders to provide key insight</a:t>
            </a:r>
            <a:endParaRPr sz="1400" b="0" i="0" u="none" strike="noStrike" cap="none">
              <a:solidFill>
                <a:srgbClr val="000000"/>
              </a:solidFill>
              <a:latin typeface="Arial"/>
              <a:ea typeface="Arial"/>
              <a:cs typeface="Arial"/>
              <a:sym typeface="Arial"/>
            </a:endParaRPr>
          </a:p>
        </p:txBody>
      </p:sp>
      <p:sp>
        <p:nvSpPr>
          <p:cNvPr id="30" name="Google Shape;30;p1"/>
          <p:cNvSpPr/>
          <p:nvPr/>
        </p:nvSpPr>
        <p:spPr>
          <a:xfrm>
            <a:off x="218936" y="4797685"/>
            <a:ext cx="288315" cy="288315"/>
          </a:xfrm>
          <a:prstGeom prst="rect">
            <a:avLst/>
          </a:prstGeom>
          <a:solidFill>
            <a:srgbClr val="F1A205"/>
          </a:solidFill>
          <a:ln>
            <a:noFill/>
          </a:ln>
        </p:spPr>
        <p:txBody>
          <a:bodyPr spcFirstLastPara="1" wrap="square" lIns="47575" tIns="47575" rIns="47575" bIns="47575"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b="0" i="0" u="none" strike="noStrike" cap="none">
                <a:solidFill>
                  <a:schemeClr val="lt1"/>
                </a:solidFill>
                <a:latin typeface="Arial"/>
                <a:ea typeface="Arial"/>
                <a:cs typeface="Arial"/>
                <a:sym typeface="Arial"/>
              </a:rPr>
              <a:t>3</a:t>
            </a:r>
            <a:endParaRPr sz="1400" b="0" i="0" u="none" strike="noStrike" cap="none">
              <a:solidFill>
                <a:srgbClr val="000000"/>
              </a:solidFill>
              <a:latin typeface="Arial"/>
              <a:ea typeface="Arial"/>
              <a:cs typeface="Arial"/>
              <a:sym typeface="Arial"/>
            </a:endParaRPr>
          </a:p>
        </p:txBody>
      </p:sp>
      <p:sp>
        <p:nvSpPr>
          <p:cNvPr id="31" name="Google Shape;31;p1"/>
          <p:cNvSpPr/>
          <p:nvPr/>
        </p:nvSpPr>
        <p:spPr>
          <a:xfrm>
            <a:off x="4645097" y="5019656"/>
            <a:ext cx="288315" cy="288315"/>
          </a:xfrm>
          <a:prstGeom prst="rect">
            <a:avLst/>
          </a:prstGeom>
          <a:solidFill>
            <a:srgbClr val="F1A205"/>
          </a:solidFill>
          <a:ln>
            <a:noFill/>
          </a:ln>
        </p:spPr>
        <p:txBody>
          <a:bodyPr spcFirstLastPara="1" wrap="square" lIns="47575" tIns="47575" rIns="47575" bIns="47575"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b="0" i="0" u="none" strike="noStrike" cap="none">
                <a:solidFill>
                  <a:schemeClr val="lt1"/>
                </a:solidFill>
                <a:latin typeface="Arial"/>
                <a:ea typeface="Arial"/>
                <a:cs typeface="Arial"/>
                <a:sym typeface="Arial"/>
              </a:rPr>
              <a:t>6</a:t>
            </a:r>
            <a:endParaRPr sz="1400" b="0" i="0" u="none" strike="noStrike" cap="none">
              <a:solidFill>
                <a:srgbClr val="000000"/>
              </a:solidFill>
              <a:latin typeface="Arial"/>
              <a:ea typeface="Arial"/>
              <a:cs typeface="Arial"/>
              <a:sym typeface="Arial"/>
            </a:endParaRPr>
          </a:p>
        </p:txBody>
      </p:sp>
      <p:sp>
        <p:nvSpPr>
          <p:cNvPr id="32" name="Google Shape;32;p1"/>
          <p:cNvSpPr/>
          <p:nvPr/>
        </p:nvSpPr>
        <p:spPr>
          <a:xfrm>
            <a:off x="601195" y="4831972"/>
            <a:ext cx="3597454" cy="21974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b="0" i="0" u="none" strike="noStrike" cap="none">
                <a:solidFill>
                  <a:schemeClr val="dk1"/>
                </a:solidFill>
                <a:latin typeface="Arial"/>
                <a:ea typeface="Arial"/>
                <a:cs typeface="Arial"/>
                <a:sym typeface="Arial"/>
              </a:rPr>
              <a:t>Scope of solution space </a:t>
            </a:r>
            <a:endParaRPr sz="1400" b="0" i="0" u="none" strike="noStrike" cap="none">
              <a:solidFill>
                <a:srgbClr val="000000"/>
              </a:solidFill>
              <a:latin typeface="Arial"/>
              <a:ea typeface="Arial"/>
              <a:cs typeface="Arial"/>
              <a:sym typeface="Arial"/>
            </a:endParaRPr>
          </a:p>
        </p:txBody>
      </p:sp>
      <p:sp>
        <p:nvSpPr>
          <p:cNvPr id="33" name="Google Shape;33;p1"/>
          <p:cNvSpPr/>
          <p:nvPr/>
        </p:nvSpPr>
        <p:spPr>
          <a:xfrm>
            <a:off x="5027356" y="5051712"/>
            <a:ext cx="3597454" cy="224203"/>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a:solidFill>
                  <a:schemeClr val="dk1"/>
                </a:solidFill>
              </a:rPr>
              <a:t>Key</a:t>
            </a:r>
            <a:r>
              <a:rPr lang="en-AU" sz="1428" b="0" i="0" u="none" strike="noStrike" cap="none">
                <a:solidFill>
                  <a:schemeClr val="dk1"/>
                </a:solidFill>
                <a:latin typeface="Arial"/>
                <a:ea typeface="Arial"/>
                <a:cs typeface="Arial"/>
                <a:sym typeface="Arial"/>
              </a:rPr>
              <a:t> data sources </a:t>
            </a:r>
            <a:endParaRPr sz="1400" b="0" i="0" u="none" strike="noStrike" cap="none">
              <a:solidFill>
                <a:srgbClr val="000000"/>
              </a:solidFill>
              <a:latin typeface="Arial"/>
              <a:ea typeface="Arial"/>
              <a:cs typeface="Arial"/>
              <a:sym typeface="Arial"/>
            </a:endParaRPr>
          </a:p>
        </p:txBody>
      </p:sp>
      <p:sp>
        <p:nvSpPr>
          <p:cNvPr id="34" name="Google Shape;34;p1"/>
          <p:cNvSpPr txBox="1"/>
          <p:nvPr/>
        </p:nvSpPr>
        <p:spPr>
          <a:xfrm>
            <a:off x="143108" y="1946383"/>
            <a:ext cx="4324418" cy="1362908"/>
          </a:xfrm>
          <a:prstGeom prst="rect">
            <a:avLst/>
          </a:prstGeom>
          <a:noFill/>
          <a:ln>
            <a:noFill/>
          </a:ln>
        </p:spPr>
        <p:txBody>
          <a:bodyPr spcFirstLastPara="1" wrap="square" lIns="91425" tIns="45700" rIns="91425" bIns="45700" anchor="t" anchorCtr="0">
            <a:noAutofit/>
          </a:bodyPr>
          <a:lstStyle/>
          <a:p>
            <a:pPr lvl="0"/>
            <a:r>
              <a:rPr lang="en-US" sz="1050" dirty="0"/>
              <a:t>One of the main features which determines the cost of a hospital stay is the length of inpatient admission. To better anticipate their payouts, Insurance Company X wants to know if it is possible to predict the length of a patient’s admission based on their diagnosis and other features of their medical condition. The goal of this project is to make a predictive model and share it with the client, as the client has not shared their current methods.</a:t>
            </a:r>
            <a:endParaRPr sz="1050" dirty="0"/>
          </a:p>
        </p:txBody>
      </p:sp>
      <p:sp>
        <p:nvSpPr>
          <p:cNvPr id="35" name="Google Shape;35;p1"/>
          <p:cNvSpPr txBox="1"/>
          <p:nvPr/>
        </p:nvSpPr>
        <p:spPr>
          <a:xfrm>
            <a:off x="143108" y="3702112"/>
            <a:ext cx="4324418" cy="1410643"/>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AU" sz="1050" i="0" u="none" strike="noStrike" cap="none" dirty="0">
                <a:solidFill>
                  <a:srgbClr val="000000"/>
                </a:solidFill>
                <a:latin typeface="Arial"/>
                <a:ea typeface="Arial"/>
                <a:cs typeface="Arial"/>
                <a:sym typeface="Arial"/>
              </a:rPr>
              <a:t>I will generate a model which can accurately predict the length of patient stay in the testing data.  An ‘accurate’ prediction would have an R2 and error rates which are </a:t>
            </a:r>
            <a:r>
              <a:rPr lang="en-AU" sz="1050" dirty="0"/>
              <a:t>equivalent or </a:t>
            </a:r>
            <a:r>
              <a:rPr lang="en-AU" sz="1050" i="0" u="none" strike="noStrike" cap="none" dirty="0">
                <a:solidFill>
                  <a:srgbClr val="000000"/>
                </a:solidFill>
                <a:latin typeface="Arial"/>
                <a:ea typeface="Arial"/>
                <a:cs typeface="Arial"/>
                <a:sym typeface="Arial"/>
              </a:rPr>
              <a:t>smaller in the test data than in the training data, with test R2 0.75 or above.</a:t>
            </a:r>
            <a:endParaRPr sz="1050" i="0" u="none" strike="noStrike" cap="none" dirty="0">
              <a:solidFill>
                <a:srgbClr val="000000"/>
              </a:solidFill>
              <a:latin typeface="Arial"/>
              <a:ea typeface="Arial"/>
              <a:cs typeface="Arial"/>
              <a:sym typeface="Arial"/>
            </a:endParaRPr>
          </a:p>
        </p:txBody>
      </p:sp>
      <p:sp>
        <p:nvSpPr>
          <p:cNvPr id="36" name="Google Shape;36;p1"/>
          <p:cNvSpPr txBox="1"/>
          <p:nvPr/>
        </p:nvSpPr>
        <p:spPr>
          <a:xfrm>
            <a:off x="121750" y="5188274"/>
            <a:ext cx="4324418" cy="839169"/>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050" b="0" i="0" u="none" strike="noStrike" cap="none" dirty="0">
                <a:solidFill>
                  <a:srgbClr val="000000"/>
                </a:solidFill>
                <a:latin typeface="Arial"/>
                <a:ea typeface="Arial"/>
                <a:cs typeface="Arial"/>
                <a:sym typeface="Arial"/>
              </a:rPr>
              <a:t>The scope of this project is limited to generating and predictive model which could then be handed off to the client for their own use.  </a:t>
            </a:r>
            <a:r>
              <a:rPr lang="en-US" sz="1050" dirty="0"/>
              <a:t>I am not tasked which solving a specific problem or suggesting changed as this point in time.</a:t>
            </a:r>
            <a:endParaRPr sz="1050" b="0" i="0" u="none" strike="noStrike" cap="none" dirty="0">
              <a:solidFill>
                <a:srgbClr val="000000"/>
              </a:solidFill>
              <a:latin typeface="Arial"/>
              <a:ea typeface="Arial"/>
              <a:cs typeface="Arial"/>
              <a:sym typeface="Arial"/>
            </a:endParaRPr>
          </a:p>
        </p:txBody>
      </p:sp>
      <p:sp>
        <p:nvSpPr>
          <p:cNvPr id="37" name="Google Shape;37;p1"/>
          <p:cNvSpPr txBox="1"/>
          <p:nvPr/>
        </p:nvSpPr>
        <p:spPr>
          <a:xfrm>
            <a:off x="4556613" y="1905614"/>
            <a:ext cx="4324418" cy="140708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AU" sz="1070" b="1" i="0" u="none" strike="noStrike" cap="none" dirty="0">
                <a:solidFill>
                  <a:srgbClr val="000000"/>
                </a:solidFill>
                <a:latin typeface="Arial"/>
                <a:ea typeface="Arial"/>
                <a:cs typeface="Arial"/>
                <a:sym typeface="Arial"/>
              </a:rPr>
              <a:t>Patient Confidentiality: </a:t>
            </a:r>
            <a:r>
              <a:rPr lang="en-AU" sz="1070" i="0" u="none" strike="noStrike" cap="none" dirty="0">
                <a:solidFill>
                  <a:srgbClr val="000000"/>
                </a:solidFill>
                <a:latin typeface="Arial"/>
                <a:ea typeface="Arial"/>
                <a:cs typeface="Arial"/>
                <a:sym typeface="Arial"/>
              </a:rPr>
              <a:t>Due to HIPA, the data set we are using is representative but synthetic to protect patient privacy.  The quality of my model will be dependent on the quality of the synthetic data and whether it accurately represents real worl</a:t>
            </a:r>
            <a:r>
              <a:rPr lang="en-AU" sz="1070" dirty="0"/>
              <a:t>d patients.</a:t>
            </a:r>
            <a:endParaRPr lang="en-AU" sz="107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AU" sz="1070" b="1" dirty="0"/>
              <a:t>Corporate Confidentiality: </a:t>
            </a:r>
            <a:r>
              <a:rPr lang="en-AU" sz="1070" dirty="0"/>
              <a:t>In this hypothetical situation, the client has not shared their current expectations of admission length for different conditions, so it is not possible to suggest changes or improvements.</a:t>
            </a:r>
            <a:endParaRPr sz="1070" i="0" u="none" strike="noStrike" cap="none" dirty="0">
              <a:solidFill>
                <a:srgbClr val="000000"/>
              </a:solidFill>
              <a:latin typeface="Arial"/>
              <a:ea typeface="Arial"/>
              <a:cs typeface="Arial"/>
              <a:sym typeface="Arial"/>
            </a:endParaRPr>
          </a:p>
        </p:txBody>
      </p:sp>
      <p:sp>
        <p:nvSpPr>
          <p:cNvPr id="38" name="Google Shape;38;p1"/>
          <p:cNvSpPr txBox="1"/>
          <p:nvPr/>
        </p:nvSpPr>
        <p:spPr>
          <a:xfrm>
            <a:off x="4567650" y="5307145"/>
            <a:ext cx="4324418" cy="893623"/>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AU" sz="1070" i="0" u="none" strike="noStrike" cap="none" dirty="0">
                <a:solidFill>
                  <a:srgbClr val="000000"/>
                </a:solidFill>
                <a:latin typeface="Arial"/>
                <a:ea typeface="Arial"/>
                <a:cs typeface="Arial"/>
                <a:sym typeface="Arial"/>
              </a:rPr>
              <a:t>I will be using a synthetic data set that describes a set of patients with their diagnosis, test results, admission dates, etc.</a:t>
            </a:r>
          </a:p>
          <a:p>
            <a:r>
              <a:rPr lang="en-AU" sz="1070"/>
              <a:t>The </a:t>
            </a:r>
            <a:r>
              <a:rPr lang="en-AU" sz="1070" dirty="0"/>
              <a:t>data set can be found here: </a:t>
            </a:r>
            <a:r>
              <a:rPr lang="en-US" altLang="en-US" sz="1100" dirty="0">
                <a:solidFill>
                  <a:srgbClr val="1155CC"/>
                </a:solidFill>
                <a:latin typeface="Arial" panose="020B0604020202020204" pitchFamily="34" charset="0"/>
                <a:cs typeface="Arial" panose="020B0604020202020204" pitchFamily="34" charset="0"/>
                <a:hlinkClick r:id="rId3"/>
              </a:rPr>
              <a:t>https://www.kaggle.com/datasets/aayushchou/hospital-length-of-stay-dataset-microsoft/data</a:t>
            </a:r>
            <a:r>
              <a:rPr lang="en-US" altLang="en-US" sz="1100" dirty="0">
                <a:solidFill>
                  <a:schemeClr val="tx1"/>
                </a:solidFill>
              </a:rPr>
              <a:t> </a:t>
            </a:r>
            <a:endParaRPr lang="en-US" altLang="en-US" sz="1100" dirty="0">
              <a:solidFill>
                <a:schemeClr val="tx1"/>
              </a:solidFill>
              <a:latin typeface="Arial" panose="020B0604020202020204" pitchFamily="34" charset="0"/>
            </a:endParaRPr>
          </a:p>
          <a:p>
            <a:pPr lvl="0"/>
            <a:endParaRPr sz="1070" i="0" u="none" strike="noStrike" cap="none" dirty="0">
              <a:solidFill>
                <a:srgbClr val="000000"/>
              </a:solidFill>
              <a:latin typeface="Arial"/>
              <a:ea typeface="Arial"/>
              <a:cs typeface="Arial"/>
              <a:sym typeface="Arial"/>
            </a:endParaRPr>
          </a:p>
        </p:txBody>
      </p:sp>
      <p:sp>
        <p:nvSpPr>
          <p:cNvPr id="39" name="Google Shape;39;p1"/>
          <p:cNvSpPr/>
          <p:nvPr/>
        </p:nvSpPr>
        <p:spPr>
          <a:xfrm>
            <a:off x="6633337" y="6524418"/>
            <a:ext cx="432048" cy="205317"/>
          </a:xfrm>
          <a:prstGeom prst="chevron">
            <a:avLst>
              <a:gd name="adj" fmla="val 50000"/>
            </a:avLst>
          </a:prstGeom>
          <a:solidFill>
            <a:schemeClr val="accent4"/>
          </a:solidFill>
          <a:ln w="9525"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AU" sz="1200" b="1" i="0" u="none" strike="noStrike" cap="none">
                <a:solidFill>
                  <a:schemeClr val="lt1"/>
                </a:solidFill>
                <a:latin typeface="Quattrocento Sans"/>
                <a:ea typeface="Quattrocento Sans"/>
                <a:cs typeface="Quattrocento Sans"/>
                <a:sym typeface="Quattrocento Sans"/>
              </a:rPr>
              <a:t>H</a:t>
            </a:r>
            <a:endParaRPr sz="1400" b="0" i="0" u="none" strike="noStrike" cap="none">
              <a:solidFill>
                <a:srgbClr val="000000"/>
              </a:solidFill>
              <a:latin typeface="Arial"/>
              <a:ea typeface="Arial"/>
              <a:cs typeface="Arial"/>
              <a:sym typeface="Arial"/>
            </a:endParaRPr>
          </a:p>
        </p:txBody>
      </p:sp>
      <p:sp>
        <p:nvSpPr>
          <p:cNvPr id="40" name="Google Shape;40;p1"/>
          <p:cNvSpPr/>
          <p:nvPr/>
        </p:nvSpPr>
        <p:spPr>
          <a:xfrm>
            <a:off x="7028512" y="6513711"/>
            <a:ext cx="432048" cy="216024"/>
          </a:xfrm>
          <a:prstGeom prst="chevron">
            <a:avLst>
              <a:gd name="adj" fmla="val 50000"/>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AU" sz="1200" b="1" i="0" u="none" strike="noStrike" cap="none">
                <a:solidFill>
                  <a:schemeClr val="lt1"/>
                </a:solidFill>
                <a:latin typeface="Quattrocento Sans"/>
                <a:ea typeface="Quattrocento Sans"/>
                <a:cs typeface="Quattrocento Sans"/>
                <a:sym typeface="Quattrocento Sans"/>
              </a:rPr>
              <a:t>D</a:t>
            </a:r>
            <a:endParaRPr sz="1400" b="0" i="0" u="none" strike="noStrike" cap="none">
              <a:solidFill>
                <a:srgbClr val="000000"/>
              </a:solidFill>
              <a:latin typeface="Arial"/>
              <a:ea typeface="Arial"/>
              <a:cs typeface="Arial"/>
              <a:sym typeface="Arial"/>
            </a:endParaRPr>
          </a:p>
        </p:txBody>
      </p:sp>
      <p:sp>
        <p:nvSpPr>
          <p:cNvPr id="41" name="Google Shape;41;p1"/>
          <p:cNvSpPr/>
          <p:nvPr/>
        </p:nvSpPr>
        <p:spPr>
          <a:xfrm>
            <a:off x="7452320" y="6503004"/>
            <a:ext cx="432048" cy="216024"/>
          </a:xfrm>
          <a:prstGeom prst="chevron">
            <a:avLst>
              <a:gd name="adj" fmla="val 50000"/>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AU" sz="1200" b="1" i="0" u="none" strike="noStrike" cap="none">
                <a:solidFill>
                  <a:schemeClr val="lt1"/>
                </a:solidFill>
                <a:latin typeface="Quattrocento Sans"/>
                <a:ea typeface="Quattrocento Sans"/>
                <a:cs typeface="Quattrocento Sans"/>
                <a:sym typeface="Quattrocento Sans"/>
              </a:rPr>
              <a:t>E</a:t>
            </a:r>
            <a:endParaRPr sz="1400" b="0" i="0" u="none" strike="noStrike" cap="none">
              <a:solidFill>
                <a:srgbClr val="000000"/>
              </a:solidFill>
              <a:latin typeface="Arial"/>
              <a:ea typeface="Arial"/>
              <a:cs typeface="Arial"/>
              <a:sym typeface="Arial"/>
            </a:endParaRPr>
          </a:p>
        </p:txBody>
      </p:sp>
      <p:sp>
        <p:nvSpPr>
          <p:cNvPr id="42" name="Google Shape;42;p1"/>
          <p:cNvSpPr/>
          <p:nvPr/>
        </p:nvSpPr>
        <p:spPr>
          <a:xfrm>
            <a:off x="7846662" y="6508081"/>
            <a:ext cx="432048" cy="216024"/>
          </a:xfrm>
          <a:prstGeom prst="chevron">
            <a:avLst>
              <a:gd name="adj" fmla="val 50000"/>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AU" sz="1200" b="1" i="0" u="none" strike="noStrike" cap="none">
                <a:solidFill>
                  <a:schemeClr val="lt1"/>
                </a:solidFill>
                <a:latin typeface="Quattrocento Sans"/>
                <a:ea typeface="Quattrocento Sans"/>
                <a:cs typeface="Quattrocento Sans"/>
                <a:sym typeface="Quattrocento Sans"/>
              </a:rPr>
              <a:t>I</a:t>
            </a:r>
            <a:endParaRPr sz="1400" b="0" i="0" u="none" strike="noStrike" cap="none">
              <a:solidFill>
                <a:srgbClr val="000000"/>
              </a:solidFill>
              <a:latin typeface="Arial"/>
              <a:ea typeface="Arial"/>
              <a:cs typeface="Arial"/>
              <a:sym typeface="Arial"/>
            </a:endParaRPr>
          </a:p>
        </p:txBody>
      </p:sp>
      <p:sp>
        <p:nvSpPr>
          <p:cNvPr id="43" name="Google Shape;43;p1"/>
          <p:cNvSpPr/>
          <p:nvPr/>
        </p:nvSpPr>
        <p:spPr>
          <a:xfrm>
            <a:off x="8245692" y="6503004"/>
            <a:ext cx="432048" cy="216024"/>
          </a:xfrm>
          <a:prstGeom prst="chevron">
            <a:avLst>
              <a:gd name="adj" fmla="val 50000"/>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AU" sz="1200" b="1" i="0" u="none" strike="noStrike" cap="none">
                <a:solidFill>
                  <a:schemeClr val="lt1"/>
                </a:solidFill>
                <a:latin typeface="Quattrocento Sans"/>
                <a:ea typeface="Quattrocento Sans"/>
                <a:cs typeface="Quattrocento Sans"/>
                <a:sym typeface="Quattrocento Sans"/>
              </a:rPr>
              <a:t>P</a:t>
            </a:r>
            <a:endParaRPr sz="1400" b="0" i="0" u="none" strike="noStrike" cap="none">
              <a:solidFill>
                <a:srgbClr val="000000"/>
              </a:solidFill>
              <a:latin typeface="Arial"/>
              <a:ea typeface="Arial"/>
              <a:cs typeface="Arial"/>
              <a:sym typeface="Arial"/>
            </a:endParaRPr>
          </a:p>
        </p:txBody>
      </p:sp>
      <p:sp>
        <p:nvSpPr>
          <p:cNvPr id="44" name="Google Shape;44;p1"/>
          <p:cNvSpPr/>
          <p:nvPr/>
        </p:nvSpPr>
        <p:spPr>
          <a:xfrm>
            <a:off x="8099130" y="707128"/>
            <a:ext cx="432048" cy="205317"/>
          </a:xfrm>
          <a:prstGeom prst="chevron">
            <a:avLst>
              <a:gd name="adj" fmla="val 50000"/>
            </a:avLst>
          </a:prstGeom>
          <a:solidFill>
            <a:schemeClr val="accent4"/>
          </a:solidFill>
          <a:ln w="9525"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AU" sz="1200" b="1" i="0" u="none" strike="noStrike" cap="none">
                <a:solidFill>
                  <a:schemeClr val="lt1"/>
                </a:solidFill>
                <a:latin typeface="Quattrocento Sans"/>
                <a:ea typeface="Quattrocento Sans"/>
                <a:cs typeface="Quattrocento Sans"/>
                <a:sym typeface="Quattrocento Sans"/>
              </a:rPr>
              <a:t>H</a:t>
            </a:r>
            <a:endParaRPr sz="1400" b="0" i="0" u="none" strike="noStrike" cap="none">
              <a:solidFill>
                <a:srgbClr val="000000"/>
              </a:solidFill>
              <a:latin typeface="Arial"/>
              <a:ea typeface="Arial"/>
              <a:cs typeface="Arial"/>
              <a:sym typeface="Arial"/>
            </a:endParaRPr>
          </a:p>
        </p:txBody>
      </p:sp>
      <p:sp>
        <p:nvSpPr>
          <p:cNvPr id="45" name="Google Shape;45;p1"/>
          <p:cNvSpPr/>
          <p:nvPr/>
        </p:nvSpPr>
        <p:spPr>
          <a:xfrm>
            <a:off x="121750" y="116631"/>
            <a:ext cx="7724912" cy="1137079"/>
          </a:xfrm>
          <a:prstGeom prst="wedgeRectCallout">
            <a:avLst>
              <a:gd name="adj1" fmla="val 53513"/>
              <a:gd name="adj2" fmla="val 6588"/>
            </a:avLst>
          </a:prstGeom>
          <a:solidFill>
            <a:srgbClr val="FEF2D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46" name="Google Shape;46;p1"/>
          <p:cNvSpPr txBox="1">
            <a:spLocks noGrp="1"/>
          </p:cNvSpPr>
          <p:nvPr>
            <p:ph type="title"/>
          </p:nvPr>
        </p:nvSpPr>
        <p:spPr>
          <a:xfrm>
            <a:off x="184140" y="189590"/>
            <a:ext cx="8793596" cy="307777"/>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r>
              <a:rPr lang="en-AU" sz="2000">
                <a:solidFill>
                  <a:srgbClr val="29748D"/>
                </a:solidFill>
                <a:latin typeface="Quattrocento Sans"/>
                <a:ea typeface="Quattrocento Sans"/>
                <a:cs typeface="Quattrocento Sans"/>
                <a:sym typeface="Quattrocento Sans"/>
              </a:rPr>
              <a:t>Problem Statement Worksheet (Hypothesis Formation)</a:t>
            </a:r>
            <a:endParaRPr/>
          </a:p>
        </p:txBody>
      </p:sp>
      <p:sp>
        <p:nvSpPr>
          <p:cNvPr id="47" name="Google Shape;47;p1"/>
          <p:cNvSpPr txBox="1"/>
          <p:nvPr/>
        </p:nvSpPr>
        <p:spPr>
          <a:xfrm>
            <a:off x="4587388" y="3598736"/>
            <a:ext cx="4324418" cy="1523386"/>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AU" sz="1071" b="1" dirty="0"/>
              <a:t>Underwriting</a:t>
            </a:r>
            <a:r>
              <a:rPr lang="en-AU" sz="1071" dirty="0"/>
              <a:t> – The department that executes risk analysis on customers, sets premiums and overall manages financial risk.</a:t>
            </a:r>
          </a:p>
          <a:p>
            <a:pPr marL="0" marR="0" lvl="0" indent="0" algn="l" rtl="0">
              <a:lnSpc>
                <a:spcPct val="100000"/>
              </a:lnSpc>
              <a:spcBef>
                <a:spcPts val="0"/>
              </a:spcBef>
              <a:spcAft>
                <a:spcPts val="0"/>
              </a:spcAft>
              <a:buNone/>
            </a:pPr>
            <a:r>
              <a:rPr lang="en-AU" sz="1071" b="1" i="0" u="none" strike="noStrike" cap="none" dirty="0">
                <a:solidFill>
                  <a:srgbClr val="000000"/>
                </a:solidFill>
                <a:latin typeface="Arial"/>
                <a:ea typeface="Arial"/>
                <a:cs typeface="Arial"/>
                <a:sym typeface="Arial"/>
              </a:rPr>
              <a:t>Claims </a:t>
            </a:r>
            <a:r>
              <a:rPr lang="en-AU" sz="1071" b="1" dirty="0"/>
              <a:t>Management </a:t>
            </a:r>
            <a:r>
              <a:rPr lang="en-AU" sz="1071" dirty="0"/>
              <a:t>– The department that processes claims and handles preapproval.</a:t>
            </a:r>
          </a:p>
          <a:p>
            <a:pPr marL="0" marR="0" lvl="0" indent="0" algn="l" rtl="0">
              <a:lnSpc>
                <a:spcPct val="100000"/>
              </a:lnSpc>
              <a:spcBef>
                <a:spcPts val="0"/>
              </a:spcBef>
              <a:spcAft>
                <a:spcPts val="0"/>
              </a:spcAft>
              <a:buNone/>
            </a:pPr>
            <a:r>
              <a:rPr lang="en-AU" sz="1071" i="0" u="none" strike="noStrike" cap="none" dirty="0">
                <a:solidFill>
                  <a:srgbClr val="000000"/>
                </a:solidFill>
                <a:latin typeface="Arial"/>
                <a:ea typeface="Arial"/>
                <a:cs typeface="Arial"/>
                <a:sym typeface="Arial"/>
              </a:rPr>
              <a:t>This project would most likely be initiated by one of these departments.  I would work with them to understand their</a:t>
            </a:r>
            <a:r>
              <a:rPr lang="en-AU" sz="1071" dirty="0"/>
              <a:t> expectations and motivations, then present the final results to either the heads of these departments or their superiors, such as the CFO.</a:t>
            </a:r>
            <a:endParaRPr sz="1400" i="0" u="none" strike="noStrike" cap="none" dirty="0">
              <a:solidFill>
                <a:srgbClr val="000000"/>
              </a:solidFill>
              <a:latin typeface="Arial"/>
              <a:ea typeface="Arial"/>
              <a:cs typeface="Arial"/>
              <a:sym typeface="Arial"/>
            </a:endParaRPr>
          </a:p>
        </p:txBody>
      </p:sp>
      <p:sp>
        <p:nvSpPr>
          <p:cNvPr id="48" name="Google Shape;48;p1"/>
          <p:cNvSpPr txBox="1"/>
          <p:nvPr/>
        </p:nvSpPr>
        <p:spPr>
          <a:xfrm>
            <a:off x="184140" y="540901"/>
            <a:ext cx="7662522" cy="492443"/>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AU" sz="1400" b="1" i="0" u="none" strike="noStrike" cap="none" dirty="0">
                <a:solidFill>
                  <a:srgbClr val="000000"/>
                </a:solidFill>
                <a:latin typeface="Arial"/>
                <a:ea typeface="Arial"/>
                <a:cs typeface="Arial"/>
                <a:sym typeface="Arial"/>
              </a:rPr>
              <a:t>How can we build a model to accurately (R2 &gt; 0.75) predict the number of days a patient is admitted to the hospital within the next 6 weeks?</a:t>
            </a:r>
            <a:endParaRPr sz="1400" b="1" i="0" u="none" strike="noStrike" cap="none" dirty="0">
              <a:solidFill>
                <a:srgbClr val="000000"/>
              </a:solidFill>
              <a:latin typeface="Arial"/>
              <a:ea typeface="Arial"/>
              <a:cs typeface="Arial"/>
              <a:sym typeface="Arial"/>
            </a:endParaRPr>
          </a:p>
        </p:txBody>
      </p:sp>
      <p:sp>
        <p:nvSpPr>
          <p:cNvPr id="4" name="Rectangle 3">
            <a:extLst>
              <a:ext uri="{FF2B5EF4-FFF2-40B4-BE49-F238E27FC236}">
                <a16:creationId xmlns:a16="http://schemas.microsoft.com/office/drawing/2014/main" id="{09480CA0-61A2-E65F-5048-425903BE0EE1}"/>
              </a:ext>
            </a:extLst>
          </p:cNvPr>
          <p:cNvSpPr>
            <a:spLocks noChangeArrowheads="1"/>
          </p:cNvSpPr>
          <p:nvPr/>
        </p:nvSpPr>
        <p:spPr bwMode="auto">
          <a:xfrm>
            <a:off x="0" y="-184666"/>
            <a:ext cx="9144000"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theme/theme1.xml><?xml version="1.0" encoding="utf-8"?>
<a:theme xmlns:a="http://schemas.openxmlformats.org/drawingml/2006/main" name="Synergy_CF_YNR002">
  <a:themeElements>
    <a:clrScheme name="Current">
      <a:dk1>
        <a:srgbClr val="002C46"/>
      </a:dk1>
      <a:lt1>
        <a:srgbClr val="FFFFFF"/>
      </a:lt1>
      <a:dk2>
        <a:srgbClr val="FBC14E"/>
      </a:dk2>
      <a:lt2>
        <a:srgbClr val="879C16"/>
      </a:lt2>
      <a:accent1>
        <a:srgbClr val="99AABE"/>
      </a:accent1>
      <a:accent2>
        <a:srgbClr val="406085"/>
      </a:accent2>
      <a:accent3>
        <a:srgbClr val="002C46"/>
      </a:accent3>
      <a:accent4>
        <a:srgbClr val="FBC14E"/>
      </a:accent4>
      <a:accent5>
        <a:srgbClr val="379BBD"/>
      </a:accent5>
      <a:accent6>
        <a:srgbClr val="808080"/>
      </a:accent6>
      <a:hlink>
        <a:srgbClr val="002C46"/>
      </a:hlink>
      <a:folHlink>
        <a:srgbClr val="FBC14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43</TotalTime>
  <Words>752</Words>
  <Application>Microsoft Office PowerPoint</Application>
  <PresentationFormat>On-screen Show (4:3)</PresentationFormat>
  <Paragraphs>45</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Quattrocento Sans</vt:lpstr>
      <vt:lpstr>Synergy_CF_YNR002</vt:lpstr>
      <vt:lpstr>Problem Statement Worksheet (Hypothesis Formation)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Christopher H</dc:creator>
  <cp:lastModifiedBy>Devon Svoboda</cp:lastModifiedBy>
  <cp:revision>3</cp:revision>
  <dcterms:modified xsi:type="dcterms:W3CDTF">2025-11-03T21:22:20Z</dcterms:modified>
</cp:coreProperties>
</file>